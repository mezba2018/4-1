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3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8040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[~58 s]</a:t>
            </a:r>
          </a:p>
          <a:p>
            <a:endParaRPr/>
          </a:p>
          <a:p>
            <a:r>
              <a:t>Good morning. We are group [X], section [Y], and our project is</a:t>
            </a:r>
          </a:p>
          <a:p>
            <a:r>
              <a:t>"Defender-Aware Basketball Shot Simulation with Aerodynamic Effects."</a:t>
            </a:r>
          </a:p>
          <a:p>
            <a:endParaRPr/>
          </a:p>
          <a:p>
            <a:r>
              <a:t>Here is the whole idea in one picture. A shooter releases the ball. In front of</a:t>
            </a:r>
          </a:p>
          <a:p>
            <a:r>
              <a:t>them a defender is contesting the shot. And the ball flies through air that</a:t>
            </a:r>
          </a:p>
          <a:p>
            <a:r>
              <a:t>pushes back on it - that is the drag arrow on the ball.</a:t>
            </a:r>
          </a:p>
          <a:p>
            <a:endParaRPr/>
          </a:p>
          <a:p>
            <a:r>
              <a:t>Now look at the two trajectories. The red dashed one is flat. It is fast and</a:t>
            </a:r>
          </a:p>
          <a:p>
            <a:r>
              <a:t>direct, but it stays under the defender's reach, so it gets blocked. The orange</a:t>
            </a:r>
          </a:p>
          <a:p>
            <a:r>
              <a:t>one is higher. It costs more release speed and it spends longer in the air being</a:t>
            </a:r>
          </a:p>
          <a:p>
            <a:r>
              <a:t>slowed by drag - but it clears the defender and drops through the basket.</a:t>
            </a:r>
          </a:p>
          <a:p>
            <a:endParaRPr/>
          </a:p>
          <a:p>
            <a:r>
              <a:t>That trade-off is our entire project. Given a defender in front of you, and</a:t>
            </a:r>
          </a:p>
          <a:p>
            <a:r>
              <a:t>given real air resistance, what release angle and what release velocity should</a:t>
            </a:r>
          </a:p>
          <a:p>
            <a:r>
              <a:t>you actually use?</a:t>
            </a:r>
          </a:p>
          <a:p>
            <a:endParaRPr/>
          </a:p>
          <a:p>
            <a:r>
              <a:t>We answer that numerically.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[~66 s]</a:t>
            </a:r>
          </a:p>
          <a:p>
            <a:endParaRPr/>
          </a:p>
          <a:p>
            <a:r>
              <a:t>Our base paper is Silverberg, Tran and Adcock, "Numerical Analysis of the</a:t>
            </a:r>
          </a:p>
          <a:p>
            <a:r>
              <a:t>Basketball Shot," published in the ASME Journal of Dynamic Systems, Measurement</a:t>
            </a:r>
          </a:p>
          <a:p>
            <a:r>
              <a:t>and Control in 2003.</a:t>
            </a:r>
          </a:p>
          <a:p>
            <a:endParaRPr/>
          </a:p>
          <a:p>
            <a:r>
              <a:t>What they did is on the strip across the middle. You give the model the initial</a:t>
            </a:r>
          </a:p>
          <a:p>
            <a:r>
              <a:t>conditions - release angle, release velocity, release height. It integrates the</a:t>
            </a:r>
          </a:p>
          <a:p>
            <a:r>
              <a:t>motion forward in time. And it tells you whether the shot was made or missed.</a:t>
            </a:r>
          </a:p>
          <a:p>
            <a:endParaRPr/>
          </a:p>
          <a:p>
            <a:r>
              <a:t>The model itself is a full rigid body: nine coupled differential equations</a:t>
            </a:r>
          </a:p>
          <a:p>
            <a:r>
              <a:t>covering position, velocity and spin, including contact with the rim and the</a:t>
            </a:r>
          </a:p>
          <a:p>
            <a:r>
              <a:t>backboard. They solve it with fourth-order Runge-Kutta at a variable step size.</a:t>
            </a:r>
          </a:p>
          <a:p>
            <a:r>
              <a:t>The reason it has to be numerical is that once you add contact, friction and</a:t>
            </a:r>
          </a:p>
          <a:p>
            <a:r>
              <a:t>spin, there is no closed-form solution. You integrate.</a:t>
            </a:r>
          </a:p>
          <a:p>
            <a:endParaRPr/>
          </a:p>
          <a:p>
            <a:r>
              <a:t>And this line at the bottom is what gives us our project. The authors state that</a:t>
            </a:r>
          </a:p>
          <a:p>
            <a:r>
              <a:t>aerodynamic effects are neglected. And there is no defender anywhere in the</a:t>
            </a:r>
          </a:p>
          <a:p>
            <a:r>
              <a:t>paper. Those are exactly the two things we add.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[~68 s]</a:t>
            </a:r>
          </a:p>
          <a:p>
            <a:endParaRPr/>
          </a:p>
          <a:p>
            <a:r>
              <a:t>So here is the distinction, and I want to be precise about it, because this is a</a:t>
            </a:r>
          </a:p>
          <a:p>
            <a:r>
              <a:t>course-project extension of a published paper - not new research.</a:t>
            </a:r>
          </a:p>
          <a:p>
            <a:endParaRPr/>
          </a:p>
          <a:p>
            <a:r>
              <a:t>Everything at the bottom left we keep exactly as the base paper has it: the</a:t>
            </a:r>
          </a:p>
          <a:p>
            <a:r>
              <a:t>trajectory, the release angle and velocity, the basket geometry.</a:t>
            </a:r>
          </a:p>
          <a:p>
            <a:endParaRPr/>
          </a:p>
          <a:p>
            <a:r>
              <a:t>We add the two things on the right. First, a defender - standing at horizontal</a:t>
            </a:r>
          </a:p>
          <a:p>
            <a:r>
              <a:t>distance x-d, with an effective blocking height H-d. That gives us the red</a:t>
            </a:r>
          </a:p>
          <a:p>
            <a:r>
              <a:t>constraint on the diagram: the height of the ball when it passes the defender</a:t>
            </a:r>
          </a:p>
          <a:p>
            <a:r>
              <a:t>must exceed the defender's reach plus the ball's radius. Second, aerodynamics -</a:t>
            </a:r>
          </a:p>
          <a:p>
            <a:r>
              <a:t>a drag force, one-half rho C-D A v-squared, opposing the motion, with wind</a:t>
            </a:r>
          </a:p>
          <a:p>
            <a:r>
              <a:t>entering through the relative air velocity.</a:t>
            </a:r>
          </a:p>
          <a:p>
            <a:endParaRPr/>
          </a:p>
          <a:p>
            <a:r>
              <a:t>And notice what that changes. In the base paper you search for shots that go in.</a:t>
            </a:r>
          </a:p>
          <a:p>
            <a:r>
              <a:t>Once a defender is standing there, you have a feasible region, and you are</a:t>
            </a:r>
          </a:p>
          <a:p>
            <a:r>
              <a:t>choosing the best shot inside it. The problem becomes constrained optimization.</a:t>
            </a:r>
          </a:p>
          <a:p>
            <a:endParaRPr/>
          </a:p>
          <a:p>
            <a:r>
              <a:t>Which gives us our research question,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[~70 s]</a:t>
            </a:r>
          </a:p>
          <a:p>
            <a:endParaRPr/>
          </a:p>
          <a:p>
            <a:r>
              <a:t>Here is how we compute it - the strip across the top.</a:t>
            </a:r>
          </a:p>
          <a:p>
            <a:endParaRPr/>
          </a:p>
          <a:p>
            <a:r>
              <a:t>We pick a release angle. We integrate the trajectory with RK4, on the state</a:t>
            </a:r>
          </a:p>
          <a:p>
            <a:r>
              <a:t>vector x, y, v-x, v-y, now including the drag force - that is card one. Then we</a:t>
            </a:r>
          </a:p>
          <a:p>
            <a:r>
              <a:t>check whether the ball cleared the defender. Then we need the release velocity</a:t>
            </a:r>
          </a:p>
          <a:p>
            <a:r>
              <a:t>that actually puts the ball through the hoop, so we define f of v as the ball's</a:t>
            </a:r>
          </a:p>
          <a:p>
            <a:r>
              <a:t>height at the basket minus the rim height, and solve f of v equals zero using</a:t>
            </a:r>
          </a:p>
          <a:p>
            <a:r>
              <a:t>bisection or the secant method - card two. Every evaluation of f is a full RK4</a:t>
            </a:r>
          </a:p>
          <a:p>
            <a:r>
              <a:t>integration.</a:t>
            </a:r>
          </a:p>
          <a:p>
            <a:endParaRPr/>
          </a:p>
          <a:p>
            <a:r>
              <a:t>Sweeping across angles, defender positions and wind conditions gives us the</a:t>
            </a:r>
          </a:p>
          <a:p>
            <a:r>
              <a:t>feasible set, and we pick the optimum inside it - card three.</a:t>
            </a:r>
          </a:p>
          <a:p>
            <a:endParaRPr/>
          </a:p>
          <a:p>
            <a:r>
              <a:t>We will also validate the numerics by comparing Euler against RK4 at different</a:t>
            </a:r>
          </a:p>
          <a:p>
            <a:r>
              <a:t>time steps, to confirm first-order versus fourth-order convergence.</a:t>
            </a:r>
          </a:p>
          <a:p>
            <a:endParaRPr/>
          </a:p>
          <a:p>
            <a:r>
              <a:t>The contribution is a numerical shot model that finds optimal shooting</a:t>
            </a:r>
          </a:p>
          <a:p>
            <a:r>
              <a:t>conditions under both defensive and aerodynamic constraints.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36C1F"/>
                </a:solidFill>
                <a:latin typeface="Segoe UI"/>
              </a:rPr>
              <a:t>NUMERICAL ANALYSIS AND SIMULATION  ·  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9264"/>
            <a:ext cx="10789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000" b="1" i="0">
                <a:solidFill>
                  <a:srgbClr val="161B21"/>
                </a:solidFill>
                <a:latin typeface="Segoe UI"/>
              </a:rPr>
              <a:t>Defender-Aware Basketball Shot Simulation
with Aerodynamic 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212848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A8470C"/>
                </a:solidFill>
                <a:latin typeface="Segoe UI"/>
              </a:rPr>
              <a:t>A Numerical Analysis and Simulation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670048"/>
            <a:ext cx="10771632" cy="3182112"/>
          </a:xfrm>
          <a:prstGeom prst="roundRect">
            <a:avLst>
              <a:gd name="adj" fmla="val 3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969264" y="5431536"/>
            <a:ext cx="10259568" cy="0"/>
          </a:xfrm>
          <a:prstGeom prst="line">
            <a:avLst/>
          </a:prstGeom>
          <a:ln w="25400">
            <a:solidFill>
              <a:srgbClr val="C2CA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444752" y="4187952"/>
            <a:ext cx="310896" cy="310896"/>
          </a:xfrm>
          <a:prstGeom prst="ellipse">
            <a:avLst/>
          </a:prstGeom>
          <a:solidFill>
            <a:srgbClr val="465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1600200" y="4498848"/>
            <a:ext cx="0" cy="509869"/>
          </a:xfrm>
          <a:prstGeom prst="line">
            <a:avLst/>
          </a:prstGeom>
          <a:ln w="31750">
            <a:solidFill>
              <a:srgbClr val="4651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401226" y="5008717"/>
            <a:ext cx="198974" cy="422819"/>
          </a:xfrm>
          <a:prstGeom prst="line">
            <a:avLst/>
          </a:prstGeom>
          <a:ln w="31750">
            <a:solidFill>
              <a:srgbClr val="4651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00200" y="5008717"/>
            <a:ext cx="198973" cy="422819"/>
          </a:xfrm>
          <a:prstGeom prst="line">
            <a:avLst/>
          </a:prstGeom>
          <a:ln w="31750">
            <a:solidFill>
              <a:srgbClr val="4651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600200" y="4094683"/>
            <a:ext cx="310895" cy="528523"/>
          </a:xfrm>
          <a:prstGeom prst="line">
            <a:avLst/>
          </a:prstGeom>
          <a:ln w="31750">
            <a:solidFill>
              <a:srgbClr val="4651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376354" y="4623206"/>
            <a:ext cx="223846" cy="273588"/>
          </a:xfrm>
          <a:prstGeom prst="line">
            <a:avLst/>
          </a:prstGeom>
          <a:ln w="31750">
            <a:solidFill>
              <a:srgbClr val="4651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432554" y="3950208"/>
            <a:ext cx="370332" cy="370332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4617720" y="4320540"/>
            <a:ext cx="0" cy="607344"/>
          </a:xfrm>
          <a:prstGeom prst="line">
            <a:avLst/>
          </a:prstGeom>
          <a:ln w="31750">
            <a:solidFill>
              <a:srgbClr val="C039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380707" y="4927884"/>
            <a:ext cx="237013" cy="503652"/>
          </a:xfrm>
          <a:prstGeom prst="line">
            <a:avLst/>
          </a:prstGeom>
          <a:ln w="31750">
            <a:solidFill>
              <a:srgbClr val="C039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617720" y="4927884"/>
            <a:ext cx="237012" cy="503652"/>
          </a:xfrm>
          <a:prstGeom prst="line">
            <a:avLst/>
          </a:prstGeom>
          <a:ln w="31750">
            <a:solidFill>
              <a:srgbClr val="C039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306641" y="3672458"/>
            <a:ext cx="311079" cy="796214"/>
          </a:xfrm>
          <a:prstGeom prst="line">
            <a:avLst/>
          </a:prstGeom>
          <a:ln w="31750">
            <a:solidFill>
              <a:srgbClr val="C039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617720" y="3672458"/>
            <a:ext cx="311078" cy="796214"/>
          </a:xfrm>
          <a:prstGeom prst="line">
            <a:avLst/>
          </a:prstGeom>
          <a:ln w="31750">
            <a:solidFill>
              <a:srgbClr val="C039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579607" y="2684678"/>
            <a:ext cx="77724" cy="841248"/>
          </a:xfrm>
          <a:prstGeom prst="rect">
            <a:avLst/>
          </a:prstGeom>
          <a:solidFill>
            <a:srgbClr val="465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10012680" y="3273552"/>
            <a:ext cx="566927" cy="0"/>
          </a:xfrm>
          <a:prstGeom prst="line">
            <a:avLst/>
          </a:prstGeom>
          <a:ln w="50800">
            <a:solidFill>
              <a:srgbClr val="A847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46695" y="3273552"/>
            <a:ext cx="149669" cy="384048"/>
          </a:xfrm>
          <a:prstGeom prst="line">
            <a:avLst/>
          </a:prstGeom>
          <a:ln w="13970">
            <a:solidFill>
              <a:srgbClr val="A847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171419" y="3273552"/>
            <a:ext cx="74835" cy="384048"/>
          </a:xfrm>
          <a:prstGeom prst="line">
            <a:avLst/>
          </a:prstGeom>
          <a:ln w="13970">
            <a:solidFill>
              <a:srgbClr val="A847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296144" y="3273552"/>
            <a:ext cx="0" cy="384048"/>
          </a:xfrm>
          <a:prstGeom prst="line">
            <a:avLst/>
          </a:prstGeom>
          <a:ln w="13970">
            <a:solidFill>
              <a:srgbClr val="A847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0346033" y="3273552"/>
            <a:ext cx="74835" cy="384048"/>
          </a:xfrm>
          <a:prstGeom prst="line">
            <a:avLst/>
          </a:prstGeom>
          <a:ln w="13970">
            <a:solidFill>
              <a:srgbClr val="A847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0395923" y="3273552"/>
            <a:ext cx="149669" cy="384048"/>
          </a:xfrm>
          <a:prstGeom prst="line">
            <a:avLst/>
          </a:prstGeom>
          <a:ln w="13970">
            <a:solidFill>
              <a:srgbClr val="A847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120396" y="3657600"/>
            <a:ext cx="385511" cy="0"/>
          </a:xfrm>
          <a:prstGeom prst="line">
            <a:avLst/>
          </a:prstGeom>
          <a:ln w="13970">
            <a:solidFill>
              <a:srgbClr val="A847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959352" y="3672458"/>
            <a:ext cx="1298448" cy="0"/>
          </a:xfrm>
          <a:prstGeom prst="line">
            <a:avLst/>
          </a:prstGeom>
          <a:ln w="20320">
            <a:solidFill>
              <a:srgbClr val="C039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1874519" y="2798081"/>
            <a:ext cx="8193025" cy="1700767"/>
          </a:xfrm>
          <a:custGeom>
            <a:avLst/>
            <a:gdLst/>
            <a:ahLst/>
            <a:cxnLst/>
            <a:rect l="l" t="t" r="r" b="b"/>
            <a:pathLst>
              <a:path w="8193025" h="1700767">
                <a:moveTo>
                  <a:pt x="0" y="1700767"/>
                </a:moveTo>
                <a:lnTo>
                  <a:pt x="128017" y="1620485"/>
                </a:lnTo>
                <a:lnTo>
                  <a:pt x="256033" y="1542144"/>
                </a:lnTo>
                <a:lnTo>
                  <a:pt x="384049" y="1465744"/>
                </a:lnTo>
                <a:lnTo>
                  <a:pt x="512065" y="1391285"/>
                </a:lnTo>
                <a:lnTo>
                  <a:pt x="640081" y="1318767"/>
                </a:lnTo>
                <a:lnTo>
                  <a:pt x="768096" y="1248190"/>
                </a:lnTo>
                <a:lnTo>
                  <a:pt x="896113" y="1179553"/>
                </a:lnTo>
                <a:lnTo>
                  <a:pt x="1024129" y="1112858"/>
                </a:lnTo>
                <a:lnTo>
                  <a:pt x="1152145" y="1048103"/>
                </a:lnTo>
                <a:lnTo>
                  <a:pt x="1280161" y="985289"/>
                </a:lnTo>
                <a:lnTo>
                  <a:pt x="1408177" y="924415"/>
                </a:lnTo>
                <a:lnTo>
                  <a:pt x="1536193" y="865483"/>
                </a:lnTo>
                <a:lnTo>
                  <a:pt x="1664209" y="808492"/>
                </a:lnTo>
                <a:lnTo>
                  <a:pt x="1792225" y="753441"/>
                </a:lnTo>
                <a:lnTo>
                  <a:pt x="1920241" y="700331"/>
                </a:lnTo>
                <a:lnTo>
                  <a:pt x="2048257" y="649162"/>
                </a:lnTo>
                <a:lnTo>
                  <a:pt x="2176272" y="599934"/>
                </a:lnTo>
                <a:lnTo>
                  <a:pt x="2304289" y="552646"/>
                </a:lnTo>
                <a:lnTo>
                  <a:pt x="2432305" y="507300"/>
                </a:lnTo>
                <a:lnTo>
                  <a:pt x="2560321" y="463894"/>
                </a:lnTo>
                <a:lnTo>
                  <a:pt x="2688337" y="422429"/>
                </a:lnTo>
                <a:lnTo>
                  <a:pt x="2816353" y="382905"/>
                </a:lnTo>
                <a:lnTo>
                  <a:pt x="2944369" y="345322"/>
                </a:lnTo>
                <a:lnTo>
                  <a:pt x="3072385" y="309680"/>
                </a:lnTo>
                <a:lnTo>
                  <a:pt x="3200401" y="275978"/>
                </a:lnTo>
                <a:lnTo>
                  <a:pt x="3328417" y="244218"/>
                </a:lnTo>
                <a:lnTo>
                  <a:pt x="3456433" y="214398"/>
                </a:lnTo>
                <a:lnTo>
                  <a:pt x="3584449" y="186519"/>
                </a:lnTo>
                <a:lnTo>
                  <a:pt x="3712465" y="160581"/>
                </a:lnTo>
                <a:lnTo>
                  <a:pt x="3840481" y="136583"/>
                </a:lnTo>
                <a:lnTo>
                  <a:pt x="3968497" y="114527"/>
                </a:lnTo>
                <a:lnTo>
                  <a:pt x="4096513" y="94411"/>
                </a:lnTo>
                <a:lnTo>
                  <a:pt x="4224529" y="76236"/>
                </a:lnTo>
                <a:lnTo>
                  <a:pt x="4352545" y="60002"/>
                </a:lnTo>
                <a:lnTo>
                  <a:pt x="4480561" y="45709"/>
                </a:lnTo>
                <a:lnTo>
                  <a:pt x="4608577" y="33357"/>
                </a:lnTo>
                <a:lnTo>
                  <a:pt x="4736593" y="22945"/>
                </a:lnTo>
                <a:lnTo>
                  <a:pt x="4864609" y="14475"/>
                </a:lnTo>
                <a:lnTo>
                  <a:pt x="4992625" y="7945"/>
                </a:lnTo>
                <a:lnTo>
                  <a:pt x="5120641" y="3356"/>
                </a:lnTo>
                <a:lnTo>
                  <a:pt x="5248657" y="708"/>
                </a:lnTo>
                <a:lnTo>
                  <a:pt x="5376673" y="0"/>
                </a:lnTo>
                <a:lnTo>
                  <a:pt x="5504689" y="1234"/>
                </a:lnTo>
                <a:lnTo>
                  <a:pt x="5632705" y="4408"/>
                </a:lnTo>
                <a:lnTo>
                  <a:pt x="5760721" y="9523"/>
                </a:lnTo>
                <a:lnTo>
                  <a:pt x="5888737" y="16579"/>
                </a:lnTo>
                <a:lnTo>
                  <a:pt x="6016753" y="25576"/>
                </a:lnTo>
                <a:lnTo>
                  <a:pt x="6144769" y="36514"/>
                </a:lnTo>
                <a:lnTo>
                  <a:pt x="6272785" y="49392"/>
                </a:lnTo>
                <a:lnTo>
                  <a:pt x="6400801" y="64212"/>
                </a:lnTo>
                <a:lnTo>
                  <a:pt x="6528817" y="80972"/>
                </a:lnTo>
                <a:lnTo>
                  <a:pt x="6656833" y="99673"/>
                </a:lnTo>
                <a:lnTo>
                  <a:pt x="6784849" y="120315"/>
                </a:lnTo>
                <a:lnTo>
                  <a:pt x="6912865" y="142898"/>
                </a:lnTo>
                <a:lnTo>
                  <a:pt x="7040881" y="167421"/>
                </a:lnTo>
                <a:lnTo>
                  <a:pt x="7168897" y="193886"/>
                </a:lnTo>
                <a:lnTo>
                  <a:pt x="7296913" y="222291"/>
                </a:lnTo>
                <a:lnTo>
                  <a:pt x="7424929" y="252637"/>
                </a:lnTo>
                <a:lnTo>
                  <a:pt x="7552945" y="284924"/>
                </a:lnTo>
                <a:lnTo>
                  <a:pt x="7680961" y="319151"/>
                </a:lnTo>
                <a:lnTo>
                  <a:pt x="7808977" y="355320"/>
                </a:lnTo>
                <a:lnTo>
                  <a:pt x="7936993" y="393429"/>
                </a:lnTo>
                <a:lnTo>
                  <a:pt x="8065009" y="433479"/>
                </a:lnTo>
                <a:lnTo>
                  <a:pt x="8193025" y="475471"/>
                </a:lnTo>
              </a:path>
            </a:pathLst>
          </a:custGeom>
          <a:noFill/>
          <a:ln w="50800">
            <a:solidFill>
              <a:srgbClr val="E36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Freeform 29"/>
          <p:cNvSpPr/>
          <p:nvPr/>
        </p:nvSpPr>
        <p:spPr>
          <a:xfrm>
            <a:off x="1874519" y="4023360"/>
            <a:ext cx="2310289" cy="475488"/>
          </a:xfrm>
          <a:custGeom>
            <a:avLst/>
            <a:gdLst/>
            <a:ahLst/>
            <a:cxnLst/>
            <a:rect l="l" t="t" r="r" b="b"/>
            <a:pathLst>
              <a:path w="2310289" h="475488">
                <a:moveTo>
                  <a:pt x="0" y="475488"/>
                </a:moveTo>
                <a:lnTo>
                  <a:pt x="70009" y="446234"/>
                </a:lnTo>
                <a:lnTo>
                  <a:pt x="140018" y="417909"/>
                </a:lnTo>
                <a:lnTo>
                  <a:pt x="210027" y="390513"/>
                </a:lnTo>
                <a:lnTo>
                  <a:pt x="280035" y="364045"/>
                </a:lnTo>
                <a:lnTo>
                  <a:pt x="350044" y="338506"/>
                </a:lnTo>
                <a:lnTo>
                  <a:pt x="420053" y="313896"/>
                </a:lnTo>
                <a:lnTo>
                  <a:pt x="490062" y="290214"/>
                </a:lnTo>
                <a:lnTo>
                  <a:pt x="560070" y="267462"/>
                </a:lnTo>
                <a:lnTo>
                  <a:pt x="630079" y="245637"/>
                </a:lnTo>
                <a:lnTo>
                  <a:pt x="700088" y="224742"/>
                </a:lnTo>
                <a:lnTo>
                  <a:pt x="770097" y="204775"/>
                </a:lnTo>
                <a:lnTo>
                  <a:pt x="840106" y="185737"/>
                </a:lnTo>
                <a:lnTo>
                  <a:pt x="910114" y="167628"/>
                </a:lnTo>
                <a:lnTo>
                  <a:pt x="980123" y="150447"/>
                </a:lnTo>
                <a:lnTo>
                  <a:pt x="1050132" y="134195"/>
                </a:lnTo>
                <a:lnTo>
                  <a:pt x="1120141" y="118872"/>
                </a:lnTo>
                <a:lnTo>
                  <a:pt x="1190149" y="104477"/>
                </a:lnTo>
                <a:lnTo>
                  <a:pt x="1260158" y="91011"/>
                </a:lnTo>
                <a:lnTo>
                  <a:pt x="1330167" y="78474"/>
                </a:lnTo>
                <a:lnTo>
                  <a:pt x="1400176" y="66865"/>
                </a:lnTo>
                <a:lnTo>
                  <a:pt x="1470184" y="56185"/>
                </a:lnTo>
                <a:lnTo>
                  <a:pt x="1540193" y="46434"/>
                </a:lnTo>
                <a:lnTo>
                  <a:pt x="1610202" y="37611"/>
                </a:lnTo>
                <a:lnTo>
                  <a:pt x="1680211" y="29718"/>
                </a:lnTo>
                <a:lnTo>
                  <a:pt x="1750219" y="22752"/>
                </a:lnTo>
                <a:lnTo>
                  <a:pt x="1820228" y="16716"/>
                </a:lnTo>
                <a:lnTo>
                  <a:pt x="1890237" y="11608"/>
                </a:lnTo>
                <a:lnTo>
                  <a:pt x="1960245" y="7429"/>
                </a:lnTo>
                <a:lnTo>
                  <a:pt x="2030254" y="4179"/>
                </a:lnTo>
                <a:lnTo>
                  <a:pt x="2100263" y="1857"/>
                </a:lnTo>
                <a:lnTo>
                  <a:pt x="2170272" y="464"/>
                </a:lnTo>
                <a:lnTo>
                  <a:pt x="2240281" y="0"/>
                </a:lnTo>
                <a:lnTo>
                  <a:pt x="2310289" y="464"/>
                </a:lnTo>
              </a:path>
            </a:pathLst>
          </a:custGeom>
          <a:noFill/>
          <a:ln w="38100">
            <a:solidFill>
              <a:srgbClr val="C039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207508" y="2889035"/>
            <a:ext cx="246888" cy="246888"/>
          </a:xfrm>
          <a:prstGeom prst="ellipse">
            <a:avLst/>
          </a:prstGeom>
          <a:solidFill>
            <a:srgbClr val="E36C1F"/>
          </a:solidFill>
          <a:ln w="15875">
            <a:solidFill>
              <a:srgbClr val="A84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Left Arrow 31"/>
          <p:cNvSpPr/>
          <p:nvPr/>
        </p:nvSpPr>
        <p:spPr>
          <a:xfrm>
            <a:off x="4617720" y="2943899"/>
            <a:ext cx="420624" cy="137160"/>
          </a:xfrm>
          <a:prstGeom prst="leftArrow">
            <a:avLst/>
          </a:prstGeom>
          <a:solidFill>
            <a:srgbClr val="A84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49624" y="2866175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A8470C"/>
                </a:solidFill>
                <a:latin typeface="Segoe UI"/>
              </a:rPr>
              <a:t>drag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58768" y="3867912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C0392B"/>
                </a:solidFill>
                <a:latin typeface="Segoe UI"/>
              </a:rPr>
              <a:t>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348957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Segoe UI"/>
              </a:rPr>
              <a:t>H</a:t>
            </a:r>
            <a:r>
              <a:rPr sz="1300" b="1" i="0" baseline="-25000">
                <a:solidFill>
                  <a:srgbClr val="C0392B"/>
                </a:solidFill>
                <a:latin typeface="Segoe UI"/>
              </a:rPr>
              <a:t>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93392" y="464515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Segoe UI"/>
              </a:rPr>
              <a:t>blocked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785615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A8470C"/>
                </a:solidFill>
                <a:latin typeface="Segoe UI"/>
              </a:rPr>
              <a:t>✓  clears the defender — scores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559552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6515C"/>
                </a:solidFill>
                <a:latin typeface="Segoe UI"/>
              </a:rPr>
              <a:t>Shooter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59" y="5559552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Segoe UI"/>
              </a:rPr>
              <a:t>Defender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5559552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A8470C"/>
                </a:solidFill>
                <a:latin typeface="Segoe UI"/>
              </a:rPr>
              <a:t>Basket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6053328"/>
            <a:ext cx="10771632" cy="2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 dirty="0">
                <a:solidFill>
                  <a:srgbClr val="46515C"/>
                </a:solidFill>
                <a:latin typeface="Segoe UI"/>
              </a:rPr>
              <a:t>2105155 Md Siam Ahamed · 2105158 Al Shahriar Alif · 2105160 </a:t>
            </a:r>
            <a:r>
              <a:rPr sz="1200" b="0" i="0" dirty="0" err="1">
                <a:solidFill>
                  <a:srgbClr val="46515C"/>
                </a:solidFill>
                <a:latin typeface="Segoe UI"/>
              </a:rPr>
              <a:t>Imdadul</a:t>
            </a:r>
            <a:r>
              <a:rPr sz="1200" b="0" i="0" dirty="0">
                <a:solidFill>
                  <a:srgbClr val="46515C"/>
                </a:solidFill>
                <a:latin typeface="Segoe UI"/>
              </a:rPr>
              <a:t> Hasan · 2105172 </a:t>
            </a:r>
            <a:r>
              <a:rPr sz="1200" b="0" i="0" dirty="0" err="1">
                <a:solidFill>
                  <a:srgbClr val="46515C"/>
                </a:solidFill>
                <a:latin typeface="Segoe UI"/>
              </a:rPr>
              <a:t>Mezba</a:t>
            </a:r>
            <a:r>
              <a:rPr sz="1200" b="0" i="0" dirty="0">
                <a:solidFill>
                  <a:srgbClr val="46515C"/>
                </a:solidFill>
                <a:latin typeface="Segoe UI"/>
              </a:rPr>
              <a:t> us </a:t>
            </a:r>
            <a:r>
              <a:rPr sz="1200" b="0" i="0" dirty="0" err="1">
                <a:solidFill>
                  <a:srgbClr val="46515C"/>
                </a:solidFill>
                <a:latin typeface="Segoe UI"/>
              </a:rPr>
              <a:t>Salaheen</a:t>
            </a:r>
            <a:r>
              <a:rPr sz="1200" b="0" i="0" dirty="0">
                <a:solidFill>
                  <a:srgbClr val="46515C"/>
                </a:solidFill>
                <a:latin typeface="Segoe UI"/>
              </a:rPr>
              <a:t> · 2105135 Nure Razeen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3232" y="525780"/>
            <a:ext cx="182880" cy="105156"/>
          </a:xfrm>
          <a:prstGeom prst="rect">
            <a:avLst/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7548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E36C1F"/>
                </a:solidFill>
                <a:latin typeface="Segoe UI"/>
              </a:rPr>
              <a:t>PROJECT PROPOSAL  ·  NUMERICAL ANALYSIS AND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61B21"/>
                </a:solidFill>
                <a:latin typeface="Segoe UI"/>
              </a:rPr>
              <a:t>Base Paper &amp; Existing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10512"/>
            <a:ext cx="10771632" cy="841248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rIns="128016" rtlCol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46515C"/>
                </a:solidFill>
                <a:latin typeface="Segoe UI"/>
              </a:rPr>
              <a:t>Silverberg, Tran &amp; Adcock, </a:t>
            </a:r>
            <a:r>
              <a:rPr sz="1700" b="1" i="0">
                <a:solidFill>
                  <a:srgbClr val="161B21"/>
                </a:solidFill>
                <a:latin typeface="Segoe UI"/>
              </a:rPr>
              <a:t>“Numerical Analysis of the Basketball Shot”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8939E"/>
                </a:solidFill>
                <a:latin typeface="Segoe UI"/>
              </a:rPr>
              <a:t>J. Dynamic Systems, Measurement and Control (ASME), Vol. 125, pp. 531–540, 2003  ·  DOI 10.1115/1.1636193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810512"/>
            <a:ext cx="54864" cy="841248"/>
          </a:xfrm>
          <a:prstGeom prst="rect">
            <a:avLst/>
          </a:prstGeom>
          <a:solidFill>
            <a:srgbClr val="161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107716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46515C"/>
                </a:solidFill>
                <a:latin typeface="Segoe UI"/>
              </a:rPr>
              <a:t>Models the full shot — release to made-or-missed — as </a:t>
            </a:r>
            <a:r>
              <a:rPr sz="1700" b="1" i="0">
                <a:solidFill>
                  <a:srgbClr val="A8470C"/>
                </a:solidFill>
                <a:latin typeface="Segoe UI"/>
              </a:rPr>
              <a:t>9 coupled ODEs</a:t>
            </a:r>
            <a:r>
              <a:rPr sz="1700" b="0" i="0">
                <a:solidFill>
                  <a:srgbClr val="46515C"/>
                </a:solidFill>
                <a:latin typeface="Segoe UI"/>
              </a:rPr>
              <a:t>, solved with </a:t>
            </a:r>
            <a:r>
              <a:rPr sz="1700" b="1" i="0">
                <a:solidFill>
                  <a:srgbClr val="A8470C"/>
                </a:solidFill>
                <a:latin typeface="Segoe UI"/>
              </a:rPr>
              <a:t>4th-order Runge–Kutta</a:t>
            </a:r>
            <a:r>
              <a:rPr sz="1700" b="0" i="0">
                <a:solidFill>
                  <a:srgbClr val="46515C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474720"/>
            <a:ext cx="3236976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C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61B21"/>
                </a:solidFill>
                <a:latin typeface="Segoe UI"/>
              </a:rPr>
              <a:t>INITIAL CONDITIONS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88939E"/>
                </a:solidFill>
                <a:latin typeface="Segoe UI"/>
              </a:rPr>
              <a:t>release angle θ · velocity v · height 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78224" y="3877055"/>
            <a:ext cx="274320" cy="201168"/>
          </a:xfrm>
          <a:prstGeom prst="rightArrow">
            <a:avLst/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80560" y="3474720"/>
            <a:ext cx="3236976" cy="1005840"/>
          </a:xfrm>
          <a:prstGeom prst="roundRect">
            <a:avLst>
              <a:gd name="adj" fmla="val 10000"/>
            </a:avLst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RK4 SIMULATION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E2C8"/>
                </a:solidFill>
                <a:latin typeface="Segoe UI"/>
              </a:rPr>
              <a:t>step-by-step time integration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45552" y="3877055"/>
            <a:ext cx="274320" cy="201168"/>
          </a:xfrm>
          <a:prstGeom prst="rightArrow">
            <a:avLst/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47888" y="3474720"/>
            <a:ext cx="3236976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C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61B21"/>
                </a:solidFill>
                <a:latin typeface="Segoe UI"/>
              </a:rPr>
              <a:t>MADE  /  MISSED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88939E"/>
                </a:solidFill>
                <a:latin typeface="Segoe UI"/>
              </a:rPr>
              <a:t>does the ball pass through the hoop?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791456"/>
            <a:ext cx="10771632" cy="877824"/>
          </a:xfrm>
          <a:prstGeom prst="roundRect">
            <a:avLst>
              <a:gd name="adj" fmla="val 8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rIns="128016" rtlCol="0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1">
                <a:solidFill>
                  <a:srgbClr val="A8470C"/>
                </a:solidFill>
                <a:latin typeface="Segoe UI"/>
              </a:rPr>
              <a:t>“aerodynamic effects are neglected…”   — and the paper has no defender.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8939E"/>
                </a:solidFill>
                <a:latin typeface="Segoe UI"/>
              </a:rPr>
              <a:t>Silverberg et al., §II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791456"/>
            <a:ext cx="54864" cy="877824"/>
          </a:xfrm>
          <a:prstGeom prst="rect">
            <a:avLst/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13232" y="5888736"/>
            <a:ext cx="10771632" cy="676656"/>
          </a:xfrm>
          <a:prstGeom prst="roundRect">
            <a:avLst>
              <a:gd name="adj" fmla="val 10000"/>
            </a:avLst>
          </a:prstGeom>
          <a:solidFill>
            <a:srgbClr val="161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36C1F"/>
                </a:solidFill>
                <a:latin typeface="Segoe UI"/>
              </a:rPr>
              <a:t>OUR EXTENSION </a:t>
            </a:r>
            <a:r>
              <a:rPr sz="1900" b="1" i="0">
                <a:solidFill>
                  <a:srgbClr val="FFFFFF"/>
                </a:solidFill>
                <a:latin typeface="Segoe UI"/>
              </a:rPr>
              <a:t>defender constraint  +  air drag &amp; wind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3232" y="525780"/>
            <a:ext cx="182880" cy="105156"/>
          </a:xfrm>
          <a:prstGeom prst="rect">
            <a:avLst/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7548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E36C1F"/>
                </a:solidFill>
                <a:latin typeface="Segoe UI"/>
              </a:rPr>
              <a:t>PROJECT PROPOSAL  ·  NUMERICAL ANALYSIS AND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61B21"/>
                </a:solidFill>
                <a:latin typeface="Segoe UI"/>
              </a:rPr>
              <a:t>What Are We Extending?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55648"/>
            <a:ext cx="10771632" cy="2779776"/>
          </a:xfrm>
          <a:prstGeom prst="roundRect">
            <a:avLst>
              <a:gd name="adj" fmla="val 3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987552" y="4096512"/>
            <a:ext cx="10222991" cy="0"/>
          </a:xfrm>
          <a:prstGeom prst="line">
            <a:avLst/>
          </a:prstGeom>
          <a:ln w="22860">
            <a:solidFill>
              <a:srgbClr val="C2CA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1481328" y="2048414"/>
            <a:ext cx="8229600" cy="1280002"/>
          </a:xfrm>
          <a:custGeom>
            <a:avLst/>
            <a:gdLst/>
            <a:ahLst/>
            <a:cxnLst/>
            <a:rect l="l" t="t" r="r" b="b"/>
            <a:pathLst>
              <a:path w="8229600" h="1280002">
                <a:moveTo>
                  <a:pt x="0" y="1280002"/>
                </a:moveTo>
                <a:lnTo>
                  <a:pt x="128587" y="1214241"/>
                </a:lnTo>
                <a:lnTo>
                  <a:pt x="257175" y="1150215"/>
                </a:lnTo>
                <a:lnTo>
                  <a:pt x="385762" y="1087922"/>
                </a:lnTo>
                <a:lnTo>
                  <a:pt x="514350" y="1027363"/>
                </a:lnTo>
                <a:lnTo>
                  <a:pt x="642937" y="968538"/>
                </a:lnTo>
                <a:lnTo>
                  <a:pt x="771525" y="911447"/>
                </a:lnTo>
                <a:lnTo>
                  <a:pt x="900112" y="856089"/>
                </a:lnTo>
                <a:lnTo>
                  <a:pt x="1028700" y="802466"/>
                </a:lnTo>
                <a:lnTo>
                  <a:pt x="1157287" y="750576"/>
                </a:lnTo>
                <a:lnTo>
                  <a:pt x="1285875" y="700420"/>
                </a:lnTo>
                <a:lnTo>
                  <a:pt x="1414462" y="651999"/>
                </a:lnTo>
                <a:lnTo>
                  <a:pt x="1543050" y="605310"/>
                </a:lnTo>
                <a:lnTo>
                  <a:pt x="1671637" y="560356"/>
                </a:lnTo>
                <a:lnTo>
                  <a:pt x="1800225" y="517136"/>
                </a:lnTo>
                <a:lnTo>
                  <a:pt x="1928812" y="475649"/>
                </a:lnTo>
                <a:lnTo>
                  <a:pt x="2057400" y="435897"/>
                </a:lnTo>
                <a:lnTo>
                  <a:pt x="2185987" y="397878"/>
                </a:lnTo>
                <a:lnTo>
                  <a:pt x="2314575" y="361593"/>
                </a:lnTo>
                <a:lnTo>
                  <a:pt x="2443162" y="327041"/>
                </a:lnTo>
                <a:lnTo>
                  <a:pt x="2571750" y="294224"/>
                </a:lnTo>
                <a:lnTo>
                  <a:pt x="2700337" y="263141"/>
                </a:lnTo>
                <a:lnTo>
                  <a:pt x="2828925" y="233791"/>
                </a:lnTo>
                <a:lnTo>
                  <a:pt x="2957512" y="206175"/>
                </a:lnTo>
                <a:lnTo>
                  <a:pt x="3086100" y="180293"/>
                </a:lnTo>
                <a:lnTo>
                  <a:pt x="3214687" y="156145"/>
                </a:lnTo>
                <a:lnTo>
                  <a:pt x="3343275" y="133731"/>
                </a:lnTo>
                <a:lnTo>
                  <a:pt x="3471862" y="113051"/>
                </a:lnTo>
                <a:lnTo>
                  <a:pt x="3600450" y="94104"/>
                </a:lnTo>
                <a:lnTo>
                  <a:pt x="3729037" y="76891"/>
                </a:lnTo>
                <a:lnTo>
                  <a:pt x="3857625" y="61412"/>
                </a:lnTo>
                <a:lnTo>
                  <a:pt x="3986212" y="47667"/>
                </a:lnTo>
                <a:lnTo>
                  <a:pt x="4114800" y="35656"/>
                </a:lnTo>
                <a:lnTo>
                  <a:pt x="4243387" y="25379"/>
                </a:lnTo>
                <a:lnTo>
                  <a:pt x="4371975" y="16835"/>
                </a:lnTo>
                <a:lnTo>
                  <a:pt x="4500562" y="10026"/>
                </a:lnTo>
                <a:lnTo>
                  <a:pt x="4629150" y="4950"/>
                </a:lnTo>
                <a:lnTo>
                  <a:pt x="4757737" y="1608"/>
                </a:lnTo>
                <a:lnTo>
                  <a:pt x="4886325" y="0"/>
                </a:lnTo>
                <a:lnTo>
                  <a:pt x="5014912" y="126"/>
                </a:lnTo>
                <a:lnTo>
                  <a:pt x="5143500" y="1985"/>
                </a:lnTo>
                <a:lnTo>
                  <a:pt x="5272087" y="5579"/>
                </a:lnTo>
                <a:lnTo>
                  <a:pt x="5400675" y="10906"/>
                </a:lnTo>
                <a:lnTo>
                  <a:pt x="5529262" y="17967"/>
                </a:lnTo>
                <a:lnTo>
                  <a:pt x="5657850" y="26762"/>
                </a:lnTo>
                <a:lnTo>
                  <a:pt x="5786437" y="37291"/>
                </a:lnTo>
                <a:lnTo>
                  <a:pt x="5915025" y="49554"/>
                </a:lnTo>
                <a:lnTo>
                  <a:pt x="6043612" y="63550"/>
                </a:lnTo>
                <a:lnTo>
                  <a:pt x="6172200" y="79281"/>
                </a:lnTo>
                <a:lnTo>
                  <a:pt x="6300787" y="96745"/>
                </a:lnTo>
                <a:lnTo>
                  <a:pt x="6429375" y="115943"/>
                </a:lnTo>
                <a:lnTo>
                  <a:pt x="6557962" y="136875"/>
                </a:lnTo>
                <a:lnTo>
                  <a:pt x="6686550" y="159540"/>
                </a:lnTo>
                <a:lnTo>
                  <a:pt x="6815137" y="183940"/>
                </a:lnTo>
                <a:lnTo>
                  <a:pt x="6943725" y="210073"/>
                </a:lnTo>
                <a:lnTo>
                  <a:pt x="7072312" y="237941"/>
                </a:lnTo>
                <a:lnTo>
                  <a:pt x="7200900" y="267542"/>
                </a:lnTo>
                <a:lnTo>
                  <a:pt x="7329487" y="298877"/>
                </a:lnTo>
                <a:lnTo>
                  <a:pt x="7458075" y="331946"/>
                </a:lnTo>
                <a:lnTo>
                  <a:pt x="7586662" y="366748"/>
                </a:lnTo>
                <a:lnTo>
                  <a:pt x="7715250" y="403285"/>
                </a:lnTo>
                <a:lnTo>
                  <a:pt x="7843837" y="441555"/>
                </a:lnTo>
                <a:lnTo>
                  <a:pt x="7972425" y="481560"/>
                </a:lnTo>
                <a:lnTo>
                  <a:pt x="8101012" y="523298"/>
                </a:lnTo>
                <a:lnTo>
                  <a:pt x="8229600" y="566770"/>
                </a:lnTo>
              </a:path>
            </a:pathLst>
          </a:custGeom>
          <a:noFill/>
          <a:ln w="44450">
            <a:solidFill>
              <a:srgbClr val="E36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 flipV="1">
            <a:off x="1481328" y="3328416"/>
            <a:ext cx="0" cy="768096"/>
          </a:xfrm>
          <a:prstGeom prst="line">
            <a:avLst/>
          </a:prstGeom>
          <a:ln w="31750">
            <a:solidFill>
              <a:srgbClr val="4651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403604" y="3250692"/>
            <a:ext cx="155448" cy="155448"/>
          </a:xfrm>
          <a:prstGeom prst="ellipse">
            <a:avLst/>
          </a:prstGeom>
          <a:solidFill>
            <a:srgbClr val="465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6864" y="2871216"/>
            <a:ext cx="329184" cy="1225295"/>
          </a:xfrm>
          <a:prstGeom prst="rect">
            <a:avLst/>
          </a:prstGeom>
          <a:solidFill>
            <a:srgbClr val="FBEE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4151376" y="2871216"/>
            <a:ext cx="1371600" cy="0"/>
          </a:xfrm>
          <a:prstGeom prst="line">
            <a:avLst/>
          </a:prstGeom>
          <a:ln w="19050">
            <a:solidFill>
              <a:srgbClr val="C039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81744" y="2615184"/>
            <a:ext cx="585215" cy="0"/>
          </a:xfrm>
          <a:prstGeom prst="line">
            <a:avLst/>
          </a:prstGeom>
          <a:ln w="44450">
            <a:solidFill>
              <a:srgbClr val="A847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966959" y="2048256"/>
            <a:ext cx="68580" cy="841248"/>
          </a:xfrm>
          <a:prstGeom prst="rect">
            <a:avLst/>
          </a:prstGeom>
          <a:solidFill>
            <a:srgbClr val="465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1481328" y="4096512"/>
            <a:ext cx="0" cy="109728"/>
          </a:xfrm>
          <a:prstGeom prst="line">
            <a:avLst/>
          </a:prstGeom>
          <a:ln w="19050">
            <a:solidFill>
              <a:srgbClr val="4651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4224528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46515C"/>
                </a:solidFill>
                <a:latin typeface="Segoe UI"/>
              </a:rPr>
              <a:t>x = 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91456" y="4096512"/>
            <a:ext cx="0" cy="109728"/>
          </a:xfrm>
          <a:prstGeom prst="line">
            <a:avLst/>
          </a:prstGeom>
          <a:ln w="19050">
            <a:solidFill>
              <a:srgbClr val="C039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79976" y="4224528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Segoe UI"/>
              </a:rPr>
              <a:t>x</a:t>
            </a:r>
            <a:r>
              <a:rPr sz="1250" b="1" i="0" baseline="-25000">
                <a:solidFill>
                  <a:srgbClr val="C0392B"/>
                </a:solidFill>
                <a:latin typeface="Segoe UI"/>
              </a:rPr>
              <a:t>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10928" y="4096512"/>
            <a:ext cx="0" cy="109728"/>
          </a:xfrm>
          <a:prstGeom prst="line">
            <a:avLst/>
          </a:prstGeom>
          <a:ln w="19050">
            <a:solidFill>
              <a:srgbClr val="A847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299448" y="4224528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A8470C"/>
                </a:solidFill>
                <a:latin typeface="Segoe UI"/>
              </a:rPr>
              <a:t>x</a:t>
            </a:r>
            <a:r>
              <a:rPr sz="1250" b="1" i="0" baseline="-25000">
                <a:solidFill>
                  <a:srgbClr val="A8470C"/>
                </a:solidFill>
                <a:latin typeface="Segoe UI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2704" y="2688336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Segoe UI"/>
              </a:rPr>
              <a:t>H</a:t>
            </a:r>
            <a:r>
              <a:rPr sz="1300" b="1" i="0" baseline="-25000">
                <a:solidFill>
                  <a:srgbClr val="C0392B"/>
                </a:solidFill>
                <a:latin typeface="Segoe UI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3017520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C0392B"/>
                </a:solidFill>
                <a:latin typeface="Segoe UI"/>
              </a:rPr>
              <a:t>y(x</a:t>
            </a:r>
            <a:r>
              <a:rPr sz="1700" b="1" i="0" baseline="-25000">
                <a:solidFill>
                  <a:srgbClr val="C0392B"/>
                </a:solidFill>
                <a:latin typeface="Segoe UI"/>
              </a:rPr>
              <a:t>d</a:t>
            </a:r>
            <a:r>
              <a:rPr sz="1700" b="1" i="0">
                <a:solidFill>
                  <a:srgbClr val="C0392B"/>
                </a:solidFill>
                <a:latin typeface="Segoe UI"/>
              </a:rPr>
              <a:t>)  &gt;  H</a:t>
            </a:r>
            <a:r>
              <a:rPr sz="1700" b="1" i="0" baseline="-25000">
                <a:solidFill>
                  <a:srgbClr val="C0392B"/>
                </a:solidFill>
                <a:latin typeface="Segoe UI"/>
              </a:rPr>
              <a:t>d</a:t>
            </a:r>
            <a:r>
              <a:rPr sz="1700" b="1" i="0">
                <a:solidFill>
                  <a:srgbClr val="C0392B"/>
                </a:solidFill>
                <a:latin typeface="Segoe UI"/>
              </a:rPr>
              <a:t> + R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88939E"/>
                </a:solidFill>
                <a:latin typeface="Segoe UI"/>
              </a:rPr>
              <a:t>clear the defender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017520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A8470C"/>
                </a:solidFill>
                <a:latin typeface="Segoe UI"/>
              </a:rPr>
              <a:t>y(x</a:t>
            </a:r>
            <a:r>
              <a:rPr sz="1700" b="1" i="0" baseline="-25000">
                <a:solidFill>
                  <a:srgbClr val="A8470C"/>
                </a:solidFill>
                <a:latin typeface="Segoe UI"/>
              </a:rPr>
              <a:t>b</a:t>
            </a:r>
            <a:r>
              <a:rPr sz="1700" b="1" i="0">
                <a:solidFill>
                  <a:srgbClr val="A8470C"/>
                </a:solidFill>
                <a:latin typeface="Segoe UI"/>
              </a:rPr>
              <a:t>)  ≈  H</a:t>
            </a:r>
            <a:r>
              <a:rPr sz="1700" b="1" i="0" baseline="-25000">
                <a:solidFill>
                  <a:srgbClr val="A8470C"/>
                </a:solidFill>
                <a:latin typeface="Segoe UI"/>
              </a:rPr>
              <a:t>b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88939E"/>
                </a:solidFill>
                <a:latin typeface="Segoe UI"/>
              </a:rPr>
              <a:t>reach the basket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700016"/>
            <a:ext cx="528523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Ins="128016" rtlCol="0" anchor="ctr"/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88939E"/>
                </a:solidFill>
                <a:latin typeface="Segoe UI"/>
              </a:rPr>
              <a:t>WE KEEP  (base paper)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46515C"/>
                </a:solidFill>
                <a:latin typeface="Segoe UI"/>
              </a:rPr>
              <a:t>Trajectory · release angle &amp; velocity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46515C"/>
                </a:solidFill>
                <a:latin typeface="Segoe UI"/>
              </a:rPr>
              <a:t>Basket &amp; rim geometry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4700016"/>
            <a:ext cx="54864" cy="1024128"/>
          </a:xfrm>
          <a:prstGeom prst="rect">
            <a:avLst/>
          </a:prstGeom>
          <a:solidFill>
            <a:srgbClr val="465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199632" y="4700016"/>
            <a:ext cx="5285232" cy="1024128"/>
          </a:xfrm>
          <a:prstGeom prst="roundRect">
            <a:avLst>
              <a:gd name="adj" fmla="val 8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Ins="128016" rtlCol="0" anchor="ctr"/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A8470C"/>
                </a:solidFill>
                <a:latin typeface="Segoe UI"/>
              </a:rPr>
              <a:t>WE ADD  (our extension)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8470C"/>
                </a:solidFill>
                <a:latin typeface="Segoe UI"/>
              </a:rPr>
              <a:t>Defender constraint · air drag &amp; wind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A8470C"/>
                </a:solidFill>
                <a:latin typeface="Segoe UI"/>
              </a:rPr>
              <a:t>F</a:t>
            </a:r>
            <a:r>
              <a:rPr sz="1400" b="0" i="0" baseline="-25000">
                <a:solidFill>
                  <a:srgbClr val="A8470C"/>
                </a:solidFill>
                <a:latin typeface="Segoe UI"/>
              </a:rPr>
              <a:t>D</a:t>
            </a:r>
            <a:r>
              <a:rPr sz="1400" b="0" i="0">
                <a:solidFill>
                  <a:srgbClr val="A8470C"/>
                </a:solidFill>
                <a:latin typeface="Segoe UI"/>
              </a:rPr>
              <a:t> = ½ ρ C</a:t>
            </a:r>
            <a:r>
              <a:rPr sz="1400" b="0" i="0" baseline="-25000">
                <a:solidFill>
                  <a:srgbClr val="A8470C"/>
                </a:solidFill>
                <a:latin typeface="Segoe UI"/>
              </a:rPr>
              <a:t>D</a:t>
            </a:r>
            <a:r>
              <a:rPr sz="1400" b="0" i="0">
                <a:solidFill>
                  <a:srgbClr val="A8470C"/>
                </a:solidFill>
                <a:latin typeface="Segoe UI"/>
              </a:rPr>
              <a:t> A v</a:t>
            </a:r>
            <a:r>
              <a:rPr sz="1400" b="0" i="0" baseline="30000">
                <a:solidFill>
                  <a:srgbClr val="A8470C"/>
                </a:solidFill>
                <a:latin typeface="Segoe UI"/>
              </a:rPr>
              <a:t>2</a:t>
            </a:r>
            <a:r>
              <a:rPr sz="1200" b="0" i="0">
                <a:solidFill>
                  <a:srgbClr val="88939E"/>
                </a:solidFill>
                <a:latin typeface="Segoe UI"/>
              </a:rPr>
              <a:t>      wind via relative air velocity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4700016"/>
            <a:ext cx="54864" cy="1024128"/>
          </a:xfrm>
          <a:prstGeom prst="rect">
            <a:avLst/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13232" y="5888736"/>
            <a:ext cx="10771632" cy="713232"/>
          </a:xfrm>
          <a:prstGeom prst="roundRect">
            <a:avLst>
              <a:gd name="adj" fmla="val 10000"/>
            </a:avLst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“What release angle and velocity score while clearing a defender, under real aerodynamic conditions?”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3232" y="525780"/>
            <a:ext cx="182880" cy="105156"/>
          </a:xfrm>
          <a:prstGeom prst="rect">
            <a:avLst/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7548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E36C1F"/>
                </a:solidFill>
                <a:latin typeface="Segoe UI"/>
              </a:rPr>
              <a:t>PROJECT PROPOSAL  ·  NUMERICAL ANALYSIS AND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61B21"/>
                </a:solidFill>
                <a:latin typeface="Segoe UI"/>
              </a:rPr>
              <a:t>Numerical Methodology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28800"/>
            <a:ext cx="1874519" cy="11338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C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500" b="1" i="0">
                <a:solidFill>
                  <a:srgbClr val="161B21"/>
                </a:solidFill>
                <a:latin typeface="Segoe UI"/>
              </a:rPr>
              <a:t>Choose θ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8939E"/>
                </a:solidFill>
                <a:latin typeface="Segoe UI"/>
              </a:rPr>
              <a:t>release angle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70048" y="2308860"/>
            <a:ext cx="219456" cy="173736"/>
          </a:xfrm>
          <a:prstGeom prst="rightArrow">
            <a:avLst/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67228" y="1828800"/>
            <a:ext cx="1874519" cy="1133856"/>
          </a:xfrm>
          <a:prstGeom prst="roundRect">
            <a:avLst>
              <a:gd name="adj" fmla="val 10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500" b="1" i="0">
                <a:solidFill>
                  <a:srgbClr val="A8470C"/>
                </a:solidFill>
                <a:latin typeface="Segoe UI"/>
              </a:rPr>
              <a:t>RK4 solve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8939E"/>
                </a:solidFill>
                <a:latin typeface="Segoe UI"/>
              </a:rPr>
              <a:t>trajectory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24044" y="2308860"/>
            <a:ext cx="219456" cy="173736"/>
          </a:xfrm>
          <a:prstGeom prst="rightArrow">
            <a:avLst/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21224" y="1828800"/>
            <a:ext cx="1874519" cy="11338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C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500" b="1" i="0">
                <a:solidFill>
                  <a:srgbClr val="161B21"/>
                </a:solidFill>
                <a:latin typeface="Segoe UI"/>
              </a:rPr>
              <a:t>Clears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500" b="1" i="0">
                <a:solidFill>
                  <a:srgbClr val="161B21"/>
                </a:solidFill>
                <a:latin typeface="Segoe UI"/>
              </a:rPr>
              <a:t>defender?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8939E"/>
                </a:solidFill>
                <a:latin typeface="Segoe UI"/>
              </a:rPr>
              <a:t>constraint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78040" y="2308860"/>
            <a:ext cx="219456" cy="173736"/>
          </a:xfrm>
          <a:prstGeom prst="rightArrow">
            <a:avLst/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75219" y="1828800"/>
            <a:ext cx="1874519" cy="1133856"/>
          </a:xfrm>
          <a:prstGeom prst="roundRect">
            <a:avLst>
              <a:gd name="adj" fmla="val 10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500" b="1" i="0">
                <a:solidFill>
                  <a:srgbClr val="A8470C"/>
                </a:solidFill>
                <a:latin typeface="Segoe UI"/>
              </a:rPr>
              <a:t>Through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500" b="1" i="0">
                <a:solidFill>
                  <a:srgbClr val="A8470C"/>
                </a:solidFill>
                <a:latin typeface="Segoe UI"/>
              </a:rPr>
              <a:t>hoop?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8939E"/>
                </a:solidFill>
                <a:latin typeface="Segoe UI"/>
              </a:rPr>
              <a:t>root-find v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32035" y="2308860"/>
            <a:ext cx="219456" cy="173736"/>
          </a:xfrm>
          <a:prstGeom prst="rightArrow">
            <a:avLst/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729215" y="1828800"/>
            <a:ext cx="1874519" cy="1133856"/>
          </a:xfrm>
          <a:prstGeom prst="roundRect">
            <a:avLst>
              <a:gd name="adj" fmla="val 10000"/>
            </a:avLst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Optimal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(θ*, v*)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E2C8"/>
                </a:solidFill>
                <a:latin typeface="Segoe UI"/>
              </a:rPr>
              <a:t>best feasible shot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650492" y="3090672"/>
            <a:ext cx="6761988" cy="0"/>
          </a:xfrm>
          <a:prstGeom prst="line">
            <a:avLst/>
          </a:prstGeom>
          <a:ln w="19050">
            <a:solidFill>
              <a:srgbClr val="E36C1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017520" y="3136392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A8470C"/>
                </a:solidFill>
                <a:latin typeface="Segoe UI"/>
              </a:rPr>
              <a:t>iterate until both constraints 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529584"/>
            <a:ext cx="344363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" y="3529584"/>
            <a:ext cx="3443630" cy="54864"/>
          </a:xfrm>
          <a:prstGeom prst="rect">
            <a:avLst/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8972" y="3771900"/>
            <a:ext cx="320040" cy="320040"/>
          </a:xfrm>
          <a:prstGeom prst="ellipse">
            <a:avLst/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785615"/>
            <a:ext cx="266639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1B21"/>
                </a:solidFill>
                <a:latin typeface="Segoe UI"/>
              </a:rPr>
              <a:t>Runge–Kutta 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224528"/>
            <a:ext cx="3041294" cy="402336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1"/>
                </a:solidFill>
                <a:latin typeface="Segoe UI"/>
              </a:rPr>
              <a:t>m dv/dt  =  m g  +  F</a:t>
            </a:r>
            <a:r>
              <a:rPr sz="1300" b="1" i="0" baseline="-25000">
                <a:solidFill>
                  <a:srgbClr val="161B21"/>
                </a:solidFill>
                <a:latin typeface="Segoe UI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00016"/>
            <a:ext cx="304129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8939E"/>
                </a:solidFill>
                <a:latin typeface="Segoe UI"/>
              </a:rPr>
              <a:t>integrates the motion, now with drag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1182" y="3529584"/>
            <a:ext cx="344363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31182" y="3529584"/>
            <a:ext cx="3443630" cy="54864"/>
          </a:xfrm>
          <a:prstGeom prst="rect">
            <a:avLst/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636922" y="3771900"/>
            <a:ext cx="320040" cy="320040"/>
          </a:xfrm>
          <a:prstGeom prst="ellipse">
            <a:avLst/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1262" y="3785615"/>
            <a:ext cx="266639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1B21"/>
                </a:solidFill>
                <a:latin typeface="Segoe UI"/>
              </a:rPr>
              <a:t>Root-Finding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32350" y="4224528"/>
            <a:ext cx="3041294" cy="402336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1"/>
                </a:solidFill>
                <a:latin typeface="Segoe UI"/>
              </a:rPr>
              <a:t>f(v) = y(x</a:t>
            </a:r>
            <a:r>
              <a:rPr sz="1300" b="1" i="0" baseline="-25000">
                <a:solidFill>
                  <a:srgbClr val="161B21"/>
                </a:solidFill>
                <a:latin typeface="Segoe UI"/>
              </a:rPr>
              <a:t>b</a:t>
            </a:r>
            <a:r>
              <a:rPr sz="1300" b="1" i="0">
                <a:solidFill>
                  <a:srgbClr val="161B21"/>
                </a:solidFill>
                <a:latin typeface="Segoe UI"/>
              </a:rPr>
              <a:t>) − H</a:t>
            </a:r>
            <a:r>
              <a:rPr sz="1300" b="1" i="0" baseline="-25000">
                <a:solidFill>
                  <a:srgbClr val="161B21"/>
                </a:solidFill>
                <a:latin typeface="Segoe UI"/>
              </a:rPr>
              <a:t>b</a:t>
            </a:r>
            <a:r>
              <a:rPr sz="1300" b="1" i="0">
                <a:solidFill>
                  <a:srgbClr val="161B21"/>
                </a:solidFill>
                <a:latin typeface="Segoe UI"/>
              </a:rPr>
              <a:t>  = 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2350" y="4700016"/>
            <a:ext cx="304129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8939E"/>
                </a:solidFill>
                <a:latin typeface="Segoe UI"/>
              </a:rPr>
              <a:t>bisection / secant → velocity for a given 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49132" y="3529584"/>
            <a:ext cx="344363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49132" y="3529584"/>
            <a:ext cx="3443630" cy="54864"/>
          </a:xfrm>
          <a:prstGeom prst="rect">
            <a:avLst/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354872" y="3771900"/>
            <a:ext cx="320040" cy="320040"/>
          </a:xfrm>
          <a:prstGeom prst="ellipse">
            <a:avLst/>
          </a:prstGeom>
          <a:solidFill>
            <a:srgbClr val="E3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9212" y="3785615"/>
            <a:ext cx="266639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1B21"/>
                </a:solidFill>
                <a:latin typeface="Segoe UI"/>
              </a:rPr>
              <a:t>Optimization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50300" y="4224528"/>
            <a:ext cx="3041294" cy="402336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1"/>
                </a:solidFill>
                <a:latin typeface="Segoe UI"/>
              </a:rPr>
              <a:t>sweep θ,  x</a:t>
            </a:r>
            <a:r>
              <a:rPr sz="1300" b="1" i="0" baseline="-25000">
                <a:solidFill>
                  <a:srgbClr val="161B21"/>
                </a:solidFill>
                <a:latin typeface="Segoe UI"/>
              </a:rPr>
              <a:t>d</a:t>
            </a:r>
            <a:r>
              <a:rPr sz="1300" b="1" i="0">
                <a:solidFill>
                  <a:srgbClr val="161B21"/>
                </a:solidFill>
                <a:latin typeface="Segoe UI"/>
              </a:rPr>
              <a:t>,  H</a:t>
            </a:r>
            <a:r>
              <a:rPr sz="1300" b="1" i="0" baseline="-25000">
                <a:solidFill>
                  <a:srgbClr val="161B21"/>
                </a:solidFill>
                <a:latin typeface="Segoe UI"/>
              </a:rPr>
              <a:t>d</a:t>
            </a:r>
            <a:r>
              <a:rPr sz="1300" b="1" i="0">
                <a:solidFill>
                  <a:srgbClr val="161B21"/>
                </a:solidFill>
                <a:latin typeface="Segoe UI"/>
              </a:rPr>
              <a:t>,  wind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0300" y="4700016"/>
            <a:ext cx="304129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8939E"/>
                </a:solidFill>
                <a:latin typeface="Segoe UI"/>
              </a:rPr>
              <a:t>search the feasible set for the best shot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193792"/>
            <a:ext cx="107716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A8470C"/>
                </a:solidFill>
                <a:latin typeface="Segoe UI"/>
              </a:rPr>
              <a:t>Expected results </a:t>
            </a:r>
            <a:r>
              <a:rPr sz="1350" b="0" i="0">
                <a:solidFill>
                  <a:srgbClr val="46515C"/>
                </a:solidFill>
                <a:latin typeface="Segoe UI"/>
              </a:rPr>
              <a:t>animated trajectories  ·  optimal θ* and v*  ·  defender position vs optimal angle  ·  wind vs required v</a:t>
            </a:r>
            <a:r>
              <a:rPr sz="1350" b="0" i="0" baseline="-25000">
                <a:solidFill>
                  <a:srgbClr val="46515C"/>
                </a:solidFill>
                <a:latin typeface="Segoe UI"/>
              </a:rPr>
              <a:t>0</a:t>
            </a:r>
            <a:r>
              <a:rPr sz="1350" b="0" i="0">
                <a:solidFill>
                  <a:srgbClr val="46515C"/>
                </a:solidFill>
                <a:latin typeface="Segoe UI"/>
              </a:rPr>
              <a:t>  ·  Euler vs RK4 error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5705856"/>
            <a:ext cx="10771632" cy="841248"/>
          </a:xfrm>
          <a:prstGeom prst="roundRect">
            <a:avLst>
              <a:gd name="adj" fmla="val 10000"/>
            </a:avLst>
          </a:prstGeom>
          <a:solidFill>
            <a:srgbClr val="161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E36C1F"/>
                </a:solidFill>
                <a:latin typeface="Segoe UI"/>
              </a:rPr>
              <a:t>CONTRIBUTION </a:t>
            </a:r>
            <a:r>
              <a:rPr sz="1900" b="1" i="0">
                <a:solidFill>
                  <a:srgbClr val="FFFFFF"/>
                </a:solidFill>
                <a:latin typeface="Segoe UI"/>
              </a:rPr>
              <a:t>Optimal shooting conditions under both defensive and aerodynamic constraints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1191</Words>
  <Application>Microsoft Office PowerPoint</Application>
  <PresentationFormat>Widescreen</PresentationFormat>
  <Paragraphs>151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SIAM AHAMED</cp:lastModifiedBy>
  <cp:revision>2</cp:revision>
  <dcterms:created xsi:type="dcterms:W3CDTF">2013-01-27T09:14:16Z</dcterms:created>
  <dcterms:modified xsi:type="dcterms:W3CDTF">2026-08-15T05:50:00Z</dcterms:modified>
  <cp:category/>
</cp:coreProperties>
</file>